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Pantalla de espera mientras llega la gente. Bienvenida y agenda del día.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Nombre del evento en grande. Dejarla al presentar la charla y en pausas.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empieces hablando. Deja la portada mientras el público se acomoda. La primera frase es la de la slide siguiente.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tesis. Dila y quédate callado tres segundos. Toda la charla es la defensa de esta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Treinta segundos, no más. Lo único que debe quedar: este tipo construye cosas reales con 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la columna de 'qué significa para ti', no las especificaciones. Si preguntan el precio de las Meta VR Glasses: US$1.299,99 según Meta.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haces el puente a Unity: las plataformas cambian cada año; el motor con el que construyes el contenido,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Lego con comportamiento: cada bloque sabe hacer algo. Si tienes la captura de Sim 1 en el editor, señala la broca en la jerarquía y sus componentes en el inspector. Nada de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frase que importa: lo que vas a ver en las próximas seis industrias se hizo con la misma herramienta que puedes instalar gratis esta noche.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Ritmo rápido: un minuto por slide. Si vas tarde, salta cine y automotriz.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no hay cifra, y está bien. Di que es cualitativo. Conecta con la charla de Renzo.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Puente al caso propio: esto lo hicieron en Estados Unidos con montacargas. Nosotros lo hicimos aquí, con brocas de perforación.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con datos, no con opinión. Encuestamos antes de construir. Lee los números despacio.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hables encima del video. Si tiene la voz del coach, déjala sonar. Al terminar: 'Eso que vieron corre en un visor de menos de 500 dólares, sin PC.'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 preciso: 133 respondieron la encuesta; 17 probaron el simulador. No mezcles los dos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es la que más credibilidad te da. Elige un problema real y cuéntalo en 40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debe estar en pantalla cuando saquen el celular a fotografiar. Déjala 30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Puente a las demos de las 3:55. Luego preguntas. Si sobran más de cuatro minutos, pasa a la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si sobra tiempo. Proyecto ya abierto. Tres cosas y nada más. No compiles.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Agradecimientos: Coresearch, Tecsup, Perú Tech Week y GDG Arequipa.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evento: compartir con #ArequipaXRDay, seguir a coresearch.studio y @gdgaqp.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3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pareja/gdg-codelabs/unity-seis-industrias-media/logo-core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263640"/>
            <a:ext cx="173736" cy="3291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62453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AREQUIPA XR DAY  ·  17.10.2026  ·  CORESEARCH.STUDIO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245352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13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245352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SdKFDIAGF24" TargetMode="External"/><Relationship Id="rId3" Type="http://schemas.openxmlformats.org/officeDocument/2006/relationships/hyperlink" Target="https://youtu.be/SdKFDIAGF24" TargetMode="External"/><Relationship Id="rId1" Type="http://schemas.openxmlformats.org/officeDocument/2006/relationships/image" Target="../media/image-6-1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otzSN5pSNZk" TargetMode="External"/><Relationship Id="rId3" Type="http://schemas.openxmlformats.org/officeDocument/2006/relationships/hyperlink" Target="https://youtu.be/otzSN5pSNZk" TargetMode="External"/><Relationship Id="rId6" Type="http://schemas.openxmlformats.org/officeDocument/2006/relationships/hyperlink" Target="https://youtu.be/SdKFDIAGF24" TargetMode="External"/><Relationship Id="rId7" Type="http://schemas.openxmlformats.org/officeDocument/2006/relationships/hyperlink" Target="https://youtu.be/SdKFDIAGF24" TargetMode="External"/><Relationship Id="rId1" Type="http://schemas.openxmlformats.org/officeDocument/2006/relationships/image" Target="../media/image-7-1.jpg"/><Relationship Id="rId4" Type="http://schemas.openxmlformats.org/officeDocument/2006/relationships/image" Target="../media/image-7-2.jpg"/><Relationship Id="rId5" Type="http://schemas.openxmlformats.org/officeDocument/2006/relationships/image" Target="../media/image-7-3.jp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1SyqN3D6khI" TargetMode="External"/><Relationship Id="rId3" Type="http://schemas.openxmlformats.org/officeDocument/2006/relationships/hyperlink" Target="https://youtu.be/1SyqN3D6khI" TargetMode="External"/><Relationship Id="rId1" Type="http://schemas.openxmlformats.org/officeDocument/2006/relationships/image" Target="../media/image-12-1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D5QpseqnV6c" TargetMode="External"/><Relationship Id="rId3" Type="http://schemas.openxmlformats.org/officeDocument/2006/relationships/hyperlink" Target="https://youtu.be/D5QpseqnV6c" TargetMode="External"/><Relationship Id="rId1" Type="http://schemas.openxmlformats.org/officeDocument/2006/relationships/image" Target="../media/image-14-1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Bn-QU4iGbw0" TargetMode="External"/><Relationship Id="rId3" Type="http://schemas.openxmlformats.org/officeDocument/2006/relationships/hyperlink" Target="https://youtu.be/Bn-QU4iGbw0" TargetMode="External"/><Relationship Id="rId1" Type="http://schemas.openxmlformats.org/officeDocument/2006/relationships/image" Target="../media/image-15-1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am1sJIbmmvE" TargetMode="External"/><Relationship Id="rId3" Type="http://schemas.openxmlformats.org/officeDocument/2006/relationships/hyperlink" Target="https://youtu.be/am1sJIbmmvE" TargetMode="External"/><Relationship Id="rId1" Type="http://schemas.openxmlformats.org/officeDocument/2006/relationships/image" Target="../media/image-18-1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kXnhInrhYOI" TargetMode="External"/><Relationship Id="rId3" Type="http://schemas.openxmlformats.org/officeDocument/2006/relationships/hyperlink" Target="https://youtu.be/kXnhInrhYOI" TargetMode="External"/><Relationship Id="rId1" Type="http://schemas.openxmlformats.org/officeDocument/2006/relationships/image" Target="../media/image-19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xcyEq3Tg__o" TargetMode="External"/><Relationship Id="rId3" Type="http://schemas.openxmlformats.org/officeDocument/2006/relationships/hyperlink" Target="https://youtu.be/xcyEq3Tg__o" TargetMode="External"/><Relationship Id="rId1" Type="http://schemas.openxmlformats.org/officeDocument/2006/relationships/image" Target="../media/image-24-1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Z29kH6Xai5o" TargetMode="External"/><Relationship Id="rId3" Type="http://schemas.openxmlformats.org/officeDocument/2006/relationships/hyperlink" Target="https://youtu.be/Z29kH6Xai5o" TargetMode="External"/><Relationship Id="rId1" Type="http://schemas.openxmlformats.org/officeDocument/2006/relationships/image" Target="../media/image-25-1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pareja/Repositorios/Coresearch/marketing/evento-xr-labs-latam/obs/slide-01-inic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pareja/Repositorios/Coresearch/marketing/evento-xr-labs-latam/obs/slide-02-ev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pareja/gdg-codelabs/unity-seis-industrias-media/s01-s26-broca-quest.jp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Users/bpareja/gdg-codelabs/unity-seis-industrias-media/logo-core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429768" cy="8229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887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XR  </a:t>
            </a:r>
            <a:pPr algn="l" indent="0" marL="0">
              <a:buNone/>
            </a:pPr>
            <a:r>
              <a:rPr lang="en-US" sz="12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AREQUIPA XR DAY · 17 DE OCTUBRE DE 2026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0312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Unity: un motor,
</a:t>
            </a:r>
            <a:pPr algn="l" indent="0" marL="0">
              <a:lnSpc>
                <a:spcPct val="95000"/>
              </a:lnSpc>
              <a:buNone/>
            </a:pPr>
            <a:r>
              <a:rPr lang="en-US" sz="8000" i="1" dirty="0">
                <a:solidFill>
                  <a:srgbClr val="FF6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industrias</a:t>
            </a:r>
            <a:pPr algn="l" indent="0" marL="0">
              <a:lnSpc>
                <a:spcPct val="95000"/>
              </a:lnSpc>
              <a:buNone/>
            </a:pPr>
            <a:endParaRPr lang="en-US" sz="80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4572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un motor de videojuegos hace hoy fuera de los videojuegos</a:t>
            </a:r>
            <a:endParaRPr lang="en-US" sz="2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Benjamin Pareja · Coresearch · XRLabs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9618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JUNTO A</a:t>
            </a:r>
            <a:endParaRPr lang="en-US" sz="900" dirty="0"/>
          </a:p>
        </p:txBody>
      </p:sp>
      <p:pic>
        <p:nvPicPr>
          <p:cNvPr id="9" name="Image 2" descr="/Users/bpareja/gdg-codelabs/unity-seis-industrias-media/logo-gd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5971032"/>
            <a:ext cx="2048444" cy="299557"/>
          </a:xfrm>
          <a:prstGeom prst="rect">
            <a:avLst/>
          </a:prstGeom>
        </p:spPr>
      </p:pic>
      <p:pic>
        <p:nvPicPr>
          <p:cNvPr id="10" name="Image 3" descr="/Users/bpareja/gdg-codelabs/unity-seis-industrias-media/logo-pt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1524" y="5943600"/>
            <a:ext cx="2129721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10972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motor con el que haces juegos para el celular hoy entrena a técnicos de </a:t>
            </a:r>
            <a:pPr algn="l" indent="0" marL="0">
              <a:lnSpc>
                <a:spcPct val="95000"/>
              </a:lnSpc>
              <a:buNone/>
            </a:pPr>
            <a:r>
              <a:rPr lang="en-US" sz="5400" i="1" dirty="0">
                <a:solidFill>
                  <a:srgbClr val="FF6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minería</a:t>
            </a:r>
            <a:pPr algn="l" indent="0" marL="0">
              <a:lnSpc>
                <a:spcPct val="9500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casi nadie fuera de esta sala lo sabe.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00  </a:t>
            </a:r>
            <a:pPr algn="l" indent="0" marL="0">
              <a:buNone/>
            </a:pPr>
            <a:r>
              <a:rPr lang="en-US" sz="11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QUIÉN LES HABLA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Benjamin Pareja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8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Ingeniero de sistemas, docente en Tecsup Arequipa.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8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Lidero XRLabs: entrenamiento en realidad virtual para formación técnica, hecho en Unity para Meta Quest.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8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Coresearch: estudio de investigación y desarrollo en XR, educación y fabricación 3D.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8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GDG Arequipa · 404 Devs not Found.</a:t>
            </a:r>
            <a:endParaRPr lang="en-US" sz="1800" dirty="0"/>
          </a:p>
        </p:txBody>
      </p:sp>
      <p:pic>
        <p:nvPicPr>
          <p:cNvPr id="5" name="Image 0" descr="/Users/bpareja/gdg-codelabs/unity-seis-industrias-media/s03-benjamin-escenari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23760" y="731520"/>
            <a:ext cx="4389120" cy="5120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23760" y="731520"/>
            <a:ext cx="4389120" cy="5120640"/>
          </a:xfrm>
          <a:prstGeom prst="rect">
            <a:avLst/>
          </a:prstGeom>
          <a:ln w="9525">
            <a:solidFill>
              <a:srgbClr val="3A3A3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50608" y="658368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50608" y="658368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521440" y="658368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686032" y="658368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50608" y="5925312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50608" y="5760720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521440" y="5925312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686032" y="5760720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245352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 </a:t>
            </a:r>
            <a:pPr algn="l" indent="0" marL="0">
              <a:buNone/>
            </a:pPr>
            <a:r>
              <a:rPr lang="en-US" sz="11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acaba de pasar en </a:t>
            </a:r>
            <a:pPr algn="l" indent="0" marL="0">
              <a:lnSpc>
                <a:spcPct val="95000"/>
              </a:lnSpc>
              <a:buNone/>
            </a:pPr>
            <a:r>
              <a:rPr lang="en-US" sz="6600" i="1" dirty="0">
                <a:solidFill>
                  <a:srgbClr val="FF6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XR</a:t>
            </a:r>
            <a:pPr algn="l" indent="0" marL="0">
              <a:lnSpc>
                <a:spcPct val="95000"/>
              </a:lnSpc>
              <a:buNone/>
            </a:pP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4805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noticias de los últimos cuatro meses</a:t>
            </a:r>
            <a:endParaRPr lang="en-US" sz="2200" dirty="0"/>
          </a:p>
        </p:txBody>
      </p:sp>
      <p:pic>
        <p:nvPicPr>
          <p:cNvPr id="5" name="Image 0" descr="/Users/bpareja/gdg-codelabs/unity-seis-industrias-media/s05-meta-connect-keynote.jpg">
            <a:hlinkClick r:id="rId2" tooltip="Abrir video"/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38160" y="3931920"/>
            <a:ext cx="3474720" cy="19568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38160" y="3931920"/>
            <a:ext cx="3474720" cy="1956816"/>
          </a:xfrm>
          <a:prstGeom prst="rect">
            <a:avLst/>
          </a:prstGeom>
          <a:ln w="9525">
            <a:solidFill>
              <a:srgbClr val="3A3A3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65008" y="3858768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65008" y="3858768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521440" y="3858768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686032" y="3858768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65008" y="5961888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65008" y="5797296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521440" y="5961888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686032" y="5797296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509760" y="4544568"/>
            <a:ext cx="731520" cy="731520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6" name="Text 13">
            <a:hlinkClick r:id="rId3" tooltip=""/>
          </p:cNvPr>
          <p:cNvSpPr txBox="1"/>
          <p:nvPr/>
        </p:nvSpPr>
        <p:spPr>
          <a:xfrm>
            <a:off x="9509760" y="45445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59801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 CONNECT KEYNOTE 2026 · CANAL META · 20 S DE LAS VR GLASSES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245352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01  </a:t>
            </a:r>
            <a:pPr algn="l" indent="0" marL="0">
              <a:buNone/>
            </a:pPr>
            <a:r>
              <a:rPr lang="en-US" sz="11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 EN TRES FECHAS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cambió este año</a:t>
            </a:r>
            <a:endParaRPr lang="en-US" sz="4000" dirty="0"/>
          </a:p>
        </p:txBody>
      </p:sp>
      <p:pic>
        <p:nvPicPr>
          <p:cNvPr id="4" name="Image 0" descr="/Users/bpareja/gdg-codelabs/unity-seis-industrias-media/s05-android-xr-eyewear-io26.jpg">
            <a:hlinkClick r:id="rId2" tooltip="Abrir video"/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356616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74520"/>
            <a:ext cx="3566160" cy="1828800"/>
          </a:xfrm>
          <a:prstGeom prst="rect">
            <a:avLst/>
          </a:prstGeom>
          <a:ln w="9525">
            <a:solidFill>
              <a:srgbClr val="3A3A3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5488" y="1801368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75488" y="1801368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023360" y="1801368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87952" y="1801368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" y="3776472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" y="3611880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023360" y="3776472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87952" y="3611880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965960" y="2423160"/>
            <a:ext cx="731520" cy="731520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5" name="Text 12">
            <a:hlinkClick r:id="rId3" tooltip=""/>
          </p:cNvPr>
          <p:cNvSpPr txBox="1"/>
          <p:nvPr/>
        </p:nvSpPr>
        <p:spPr>
          <a:xfrm>
            <a:off x="1965960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794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 · YOUTUBE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069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MAY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4389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XR SDK, Developer Preview 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0292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SDK para visores, gafas con cable y gafas con pantalla o audio. Si sabes Android, ya tienes ventaja.</a:t>
            </a:r>
            <a:endParaRPr lang="en-US" sz="1300" dirty="0"/>
          </a:p>
        </p:txBody>
      </p:sp>
      <p:pic>
        <p:nvPicPr>
          <p:cNvPr id="20" name="Image 1" descr="/Users/bpareja/gdg-codelabs/unity-seis-industrias-media/s05-unity-6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97680" y="1874520"/>
            <a:ext cx="3566160" cy="182880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297680" y="1874520"/>
            <a:ext cx="3566160" cy="1828800"/>
          </a:xfrm>
          <a:prstGeom prst="rect">
            <a:avLst/>
          </a:prstGeom>
          <a:ln w="9525">
            <a:solidFill>
              <a:srgbClr val="3A3A3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224528" y="1801368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224528" y="1801368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772400" y="1801368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936992" y="1801368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224528" y="3776472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224528" y="3611880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772400" y="3776472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936992" y="3611880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297680" y="4069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JUN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4297680" y="4389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6.5: Galaxy XR y XREAL Aura con un solo APK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4297680" y="50292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proyecto, varios dispositivos Android XR. Sin reescribir.</a:t>
            </a:r>
            <a:endParaRPr lang="en-US" sz="1300" dirty="0"/>
          </a:p>
        </p:txBody>
      </p:sp>
      <p:pic>
        <p:nvPicPr>
          <p:cNvPr id="33" name="Image 2" descr="/Users/bpareja/gdg-codelabs/unity-seis-industrias-media/s05-meta-connect-keynote.jpg">
            <a:hlinkClick r:id="rId6" tooltip="Abrir video"/>
      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046720" y="1874520"/>
            <a:ext cx="3566160" cy="1828800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8046720" y="1874520"/>
            <a:ext cx="3566160" cy="1828800"/>
          </a:xfrm>
          <a:prstGeom prst="rect">
            <a:avLst/>
          </a:prstGeom>
          <a:ln w="9525">
            <a:solidFill>
              <a:srgbClr val="3A3A3A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973568" y="1801368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7973568" y="1801368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11521440" y="1801368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11686032" y="1801368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7973568" y="3776472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7973568" y="3611880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11521440" y="3776472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1686032" y="3611880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9464040" y="2423160"/>
            <a:ext cx="731520" cy="731520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4" name="Text 39">
            <a:hlinkClick r:id="rId7" tooltip=""/>
          </p:cNvPr>
          <p:cNvSpPr txBox="1"/>
          <p:nvPr/>
        </p:nvSpPr>
        <p:spPr>
          <a:xfrm>
            <a:off x="9464040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2200" dirty="0"/>
          </a:p>
        </p:txBody>
      </p:sp>
      <p:sp>
        <p:nvSpPr>
          <p:cNvPr id="45" name="Text 40"/>
          <p:cNvSpPr txBox="1"/>
          <p:nvPr/>
        </p:nvSpPr>
        <p:spPr>
          <a:xfrm>
            <a:off x="8046720" y="3794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 · YOUTUBE</a:t>
            </a:r>
            <a:endParaRPr lang="en-US" sz="900" dirty="0"/>
          </a:p>
        </p:txBody>
      </p:sp>
      <p:sp>
        <p:nvSpPr>
          <p:cNvPr id="46" name="Text 41"/>
          <p:cNvSpPr txBox="1"/>
          <p:nvPr/>
        </p:nvSpPr>
        <p:spPr>
          <a:xfrm>
            <a:off x="8046720" y="4069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SEP</a:t>
            </a:r>
            <a:endParaRPr lang="en-US" sz="1400" dirty="0"/>
          </a:p>
        </p:txBody>
      </p:sp>
      <p:sp>
        <p:nvSpPr>
          <p:cNvPr id="47" name="Text 42"/>
          <p:cNvSpPr txBox="1"/>
          <p:nvPr/>
        </p:nvSpPr>
        <p:spPr>
          <a:xfrm>
            <a:off x="8046720" y="4389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Connect: Meta VR Glasses</a:t>
            </a:r>
            <a:endParaRPr lang="en-US" sz="1600" dirty="0"/>
          </a:p>
        </p:txBody>
      </p:sp>
      <p:sp>
        <p:nvSpPr>
          <p:cNvPr id="48" name="Text 43"/>
          <p:cNvSpPr txBox="1"/>
          <p:nvPr/>
        </p:nvSpPr>
        <p:spPr>
          <a:xfrm>
            <a:off x="8046720" y="50292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Unos 100 gramos, pantalla 5K, cómputo en un puck. Llegan en 2027. El visor deja de ser un casco.</a:t>
            </a:r>
            <a:endParaRPr lang="en-US" sz="1300" dirty="0"/>
          </a:p>
        </p:txBody>
      </p:sp>
      <p:sp>
        <p:nvSpPr>
          <p:cNvPr id="49" name="Text 44"/>
          <p:cNvSpPr txBox="1"/>
          <p:nvPr/>
        </p:nvSpPr>
        <p:spPr>
          <a:xfrm>
            <a:off x="548640" y="5760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FUENTES: DEVELOPER.ANDROID.COM (19.05.2026) · DISCUSSIONS.UNITY.COM (16.06.2026) · META.COM/BLOG (23.09.2026)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245352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01  </a:t>
            </a:r>
            <a:pPr algn="l" indent="0" marL="0">
              <a:buNone/>
            </a:pPr>
            <a:r>
              <a:rPr lang="en-US" sz="11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DOS PLATAFORMAS, UN MISMO PROBLEMA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 y Android XR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3017520"/>
          </a:xfrm>
          <a:prstGeom prst="rect">
            <a:avLst/>
          </a:prstGeom>
          <a:solidFill>
            <a:srgbClr val="1A1A1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· Quest, Horizon OS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889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visor más vendido del mundo.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Standalone: no necesita PC.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corre XRLabs hoy.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394960" cy="3017520"/>
          </a:xfrm>
          <a:prstGeom prst="rect">
            <a:avLst/>
          </a:prstGeom>
          <a:solidFill>
            <a:srgbClr val="1A1A1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XR · Google + Samsung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7889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XR es el único dispositivo a la venta; las gafas vienen después.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integrado.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XR para Android nativo, Unity para 3D.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común: ambos necesitan contenido 3D interactivo. Y eso se construye con un motor.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245352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0"/>
            <a:ext cx="10972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plataformas cambian cada año.</a:t>
            </a:r>
            <a:endParaRPr lang="en-US" sz="54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construyes </a:t>
            </a:r>
            <a:endParaRPr lang="en-US" sz="54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5400" i="1" dirty="0">
                <a:solidFill>
                  <a:srgbClr val="FF6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dentro</a:t>
            </a:r>
            <a:pPr algn="l" indent="0" marL="0">
              <a:lnSpc>
                <a:spcPct val="9500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no.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hablamos del motor y no del visor.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 </a:t>
            </a:r>
            <a:pPr algn="l" indent="0" marL="0">
              <a:buNone/>
            </a:pPr>
            <a:r>
              <a:rPr lang="en-US" sz="11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es </a:t>
            </a:r>
            <a:pPr algn="l" indent="0" marL="0">
              <a:lnSpc>
                <a:spcPct val="95000"/>
              </a:lnSpc>
              <a:buNone/>
            </a:pPr>
            <a:r>
              <a:rPr lang="en-US" sz="6600" i="1" dirty="0">
                <a:solidFill>
                  <a:srgbClr val="FF6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</a:t>
            </a:r>
            <a:pPr algn="l" indent="0" marL="0">
              <a:lnSpc>
                <a:spcPct val="95000"/>
              </a:lnSpc>
              <a:buNone/>
            </a:pP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4805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tres palabras y un modelo mental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245352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02  </a:t>
            </a:r>
            <a:pPr algn="l" indent="0" marL="0">
              <a:buNone/>
            </a:pPr>
            <a:r>
              <a:rPr lang="en-US" sz="11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MENTAL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Escena → Objeto → Componente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148840" cy="2377440"/>
          </a:xfrm>
          <a:prstGeom prst="rect">
            <a:avLst/>
          </a:prstGeom>
          <a:solidFill>
            <a:srgbClr val="1A1A1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· Escena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espacio. Un taller, una mina, una sala de operaciones.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80360" y="1920240"/>
            <a:ext cx="2148840" cy="2377440"/>
          </a:xfrm>
          <a:prstGeom prst="rect">
            <a:avLst/>
          </a:prstGeom>
          <a:solidFill>
            <a:srgbClr val="1A1A1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6324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· Objeto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25603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cosas que hay en el espacio. Una broca, una mesa, una luz, la cámara.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212080" y="1920240"/>
            <a:ext cx="2148840" cy="2377440"/>
          </a:xfrm>
          <a:prstGeom prst="rect">
            <a:avLst/>
          </a:prstGeom>
          <a:solidFill>
            <a:srgbClr val="1A1A1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9496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· Componente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25603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hace cada cosa: tener física, sonar, reaccionar cuando la tomas, mostrar un texto.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52628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en Unity es combinar componentes. Escribes código solo cuando no existe el componente que necesitas.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80960" y="914400"/>
            <a:ext cx="3931920" cy="4754880"/>
          </a:xfrm>
          <a:prstGeom prst="rect">
            <a:avLst/>
          </a:prstGeom>
          <a:solidFill>
            <a:srgbClr val="1A1A1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63840" y="3063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[IMAGEN PENDIENTE: s09-editor-sim1.png]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245352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02  </a:t>
            </a:r>
            <a:pPr algn="l" indent="0" marL="0">
              <a:buNone/>
            </a:pPr>
            <a:r>
              <a:rPr lang="en-US" sz="11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 PROYECTO, MUCHAS PANTALLAS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Exportas a Android, iOS, Windows, web, Quest, Galaxy XR y Vision Pro desde el </a:t>
            </a:r>
            <a:pPr algn="l" indent="0" marL="0">
              <a:lnSpc>
                <a:spcPct val="95000"/>
              </a:lnSpc>
              <a:buNone/>
            </a:pPr>
            <a:r>
              <a:rPr lang="en-US" sz="3000" i="1" dirty="0">
                <a:solidFill>
                  <a:srgbClr val="FF6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mismo proyecto</a:t>
            </a:r>
            <a:pPr algn="l" indent="0" marL="0">
              <a:lnSpc>
                <a:spcPct val="95000"/>
              </a:lnSpc>
              <a:buNone/>
            </a:pP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6.3 LTS es la versión estable actual, con soporte hasta diciembre de 2027.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Personal es gratis para personas y equipos con menos de US$200.000 de ingresos.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Unity 6, la pantalla de “Made with Unity” es opcional.</a:t>
            </a:r>
            <a:endParaRPr lang="en-US" sz="1600" dirty="0"/>
          </a:p>
        </p:txBody>
      </p:sp>
      <p:pic>
        <p:nvPicPr>
          <p:cNvPr id="5" name="Image 0" descr="/Users/bpareja/gdg-codelabs/unity-seis-industrias-media/s05-unity-6.jpg">
            <a:hlinkClick r:id="rId2" tooltip="Abrir video"/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0" y="914400"/>
            <a:ext cx="4023360" cy="22677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89520" y="914400"/>
            <a:ext cx="4023360" cy="2267712"/>
          </a:xfrm>
          <a:prstGeom prst="rect">
            <a:avLst/>
          </a:prstGeom>
          <a:ln w="9525">
            <a:solidFill>
              <a:srgbClr val="3A3A3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516368" y="841248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516368" y="841248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521440" y="841248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686032" y="841248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16368" y="3255264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516368" y="3090672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521440" y="3255264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686032" y="3090672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235440" y="1682496"/>
            <a:ext cx="731520" cy="731520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6" name="Text 13">
            <a:hlinkClick r:id="rId3" tooltip=""/>
          </p:cNvPr>
          <p:cNvSpPr txBox="1"/>
          <p:nvPr/>
        </p:nvSpPr>
        <p:spPr>
          <a:xfrm>
            <a:off x="9235440" y="168249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7589520" y="32735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UNITY 6 TRAILER · CANAL UNITY · 0:00 A 0:30, SIN AUDIO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760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FUENTES: UNITY.COM/RELEASES/UNITY-6 · UNITY.COM/PRODUCTS/PRICING-UPDATES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245352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 </a:t>
            </a:r>
            <a:pPr algn="l" indent="0" marL="0">
              <a:buNone/>
            </a:pPr>
            <a:r>
              <a:rPr lang="en-US" sz="11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</a:t>
            </a:r>
            <a:pPr algn="l" indent="0" marL="0">
              <a:lnSpc>
                <a:spcPct val="95000"/>
              </a:lnSpc>
              <a:buNone/>
            </a:pPr>
            <a:r>
              <a:rPr lang="en-US" sz="6600" i="1" dirty="0">
                <a:solidFill>
                  <a:srgbClr val="FF6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industrias</a:t>
            </a:r>
            <a:pPr algn="l" indent="0" marL="0">
              <a:lnSpc>
                <a:spcPct val="95000"/>
              </a:lnSpc>
              <a:buNone/>
            </a:pP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4805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caso real por industria. Un minuto cada uno.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245352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Industria 01  </a:t>
            </a:r>
            <a:pPr algn="l" indent="0" marL="0">
              <a:buNone/>
            </a:pPr>
            <a:r>
              <a:rPr lang="en-US" sz="11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VIDEOJUEGOS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880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US$2 M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Indie Games Fund para Latinoamérica, 2024. Todos los estudios ganadores desarrollan con Unity.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8620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los ganadores: Dicefolk, de Leap Game Studios, Perú.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videojuegos siguen siendo el origen y el mayor laboratorio de Unity.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viene después nació de técnicas de juego.</a:t>
            </a:r>
            <a:endParaRPr lang="en-US" sz="1400" dirty="0"/>
          </a:p>
        </p:txBody>
      </p:sp>
      <p:pic>
        <p:nvPicPr>
          <p:cNvPr id="6" name="Image 0" descr="/Users/bpareja/gdg-codelabs/unity-seis-industrias-media/s12-dicefolk.jpg">
            <a:hlinkClick r:id="rId2" tooltip="Abrir video"/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23760" y="914400"/>
            <a:ext cx="4389120" cy="2468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23760" y="914400"/>
            <a:ext cx="4389120" cy="2468880"/>
          </a:xfrm>
          <a:prstGeom prst="rect">
            <a:avLst/>
          </a:prstGeom>
          <a:ln w="9525">
            <a:solidFill>
              <a:srgbClr val="3A3A3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50608" y="841248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50608" y="841248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521440" y="841248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86032" y="841248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50608" y="3456432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50608" y="3291840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521440" y="3456432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686032" y="3291840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052560" y="1783080"/>
            <a:ext cx="731520" cy="731520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7" name="Text 14">
            <a:hlinkClick r:id="rId3" tooltip=""/>
          </p:cNvPr>
          <p:cNvSpPr txBox="1"/>
          <p:nvPr/>
        </p:nvSpPr>
        <p:spPr>
          <a:xfrm>
            <a:off x="90525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7223760" y="34747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DICEFOLK · TRÁILER OFICIAL · LEAP GAME STUDIOS · 0:31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760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FUENTE: UNITY.COM/BLOG/GOOGLE-PLAY-INDIE-GAMES-FUND-2024-WINNERS (16.12.2024)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245352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Industria 02  </a:t>
            </a:r>
            <a:pPr algn="l" indent="0" marL="0">
              <a:buNone/>
            </a:pPr>
            <a:r>
              <a:rPr lang="en-US" sz="11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CINE Y ANIMACIÓN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Rodar </a:t>
            </a:r>
            <a:pPr algn="l" indent="0" marL="0">
              <a:lnSpc>
                <a:spcPct val="95000"/>
              </a:lnSpc>
              <a:buNone/>
            </a:pPr>
            <a:r>
              <a:rPr lang="en-US" sz="3400" i="1" dirty="0">
                <a:solidFill>
                  <a:srgbClr val="FF6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dentro</a:t>
            </a:r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del motor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Estudios de producción virtual usan Unity para previsualizar, iluminar y renderizar en tiempo real, sin esperar horas por cada cuadro.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director mueve la cámara y ve el resultado al instante.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Renzo esculpe en ZBrush termina en un motor como este.</a:t>
            </a:r>
            <a:endParaRPr lang="en-US" sz="1500" dirty="0"/>
          </a:p>
        </p:txBody>
      </p:sp>
      <p:pic>
        <p:nvPicPr>
          <p:cNvPr id="5" name="Image 0" descr="/Users/bpareja/gdg-codelabs/unity-seis-industrias-media/s13-unity-virtual-production-siggraph.jpg">
            <a:hlinkClick r:id="rId2" tooltip="Abrir video"/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23760" y="914400"/>
            <a:ext cx="4389120" cy="2468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23760" y="914400"/>
            <a:ext cx="4389120" cy="2468880"/>
          </a:xfrm>
          <a:prstGeom prst="rect">
            <a:avLst/>
          </a:prstGeom>
          <a:ln w="9525">
            <a:solidFill>
              <a:srgbClr val="3A3A3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50608" y="841248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50608" y="841248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521440" y="841248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686032" y="841248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50608" y="3456432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50608" y="3291840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521440" y="3456432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686032" y="3291840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052560" y="1783080"/>
            <a:ext cx="731520" cy="731520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6" name="Text 13">
            <a:hlinkClick r:id="rId3" tooltip=""/>
          </p:cNvPr>
          <p:cNvSpPr txBox="1"/>
          <p:nvPr/>
        </p:nvSpPr>
        <p:spPr>
          <a:xfrm>
            <a:off x="90525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7223760" y="34747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CHARLA DE UNITY EN SIGGRAPH 2022 · ELIGE 30 S CON SET LED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760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FUENTE: UNITY, SIGGRAPH 2022: REAL-TIME VIRTUAL PRODUCTION (SIN CIFRAS PÚBLICAS)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245352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Industria 03  </a:t>
            </a:r>
            <a:pPr algn="l" indent="0" marL="0">
              <a:buNone/>
            </a:pPr>
            <a:r>
              <a:rPr lang="en-US" sz="11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ARQUITECTURA Y CONSTRUCCIÓN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880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15–20 %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de eficiencia reportada por Sitowise (Finlandia) con Aura, un gemelo digital urbano 3D construido en Unity.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8620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gemelo digital es una copia 3D de algo real que se actualiza con datos.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para decidir antes de construir.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lógica de un simulador de entrenamiento, aplicada a una ciudad.</a:t>
            </a:r>
            <a:endParaRPr lang="en-US" sz="1400" dirty="0"/>
          </a:p>
        </p:txBody>
      </p:sp>
      <p:pic>
        <p:nvPicPr>
          <p:cNvPr id="6" name="Image 0" descr="/Users/bpareja/gdg-codelabs/unity-seis-industrias-media/s14-sitowis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23760" y="914400"/>
            <a:ext cx="4389120" cy="2468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23760" y="914400"/>
            <a:ext cx="4389120" cy="2468880"/>
          </a:xfrm>
          <a:prstGeom prst="rect">
            <a:avLst/>
          </a:prstGeom>
          <a:ln w="9525">
            <a:solidFill>
              <a:srgbClr val="3A3A3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50608" y="841248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50608" y="841248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521440" y="841248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86032" y="841248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50608" y="3456432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50608" y="3291840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521440" y="3456432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686032" y="3291840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5760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FUENTE: UNITY.COM/CASE-STUDY/SITOWISE (18.07.2025)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245352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Industria 04  </a:t>
            </a:r>
            <a:pPr algn="l" indent="0" marL="0">
              <a:buNone/>
            </a:pPr>
            <a:r>
              <a:rPr lang="en-US" sz="11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AUTOMOTRIZ Y MANUFACTURA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pantalla del auto también es una </a:t>
            </a:r>
            <a:pPr algn="l" indent="0" marL="0">
              <a:lnSpc>
                <a:spcPct val="95000"/>
              </a:lnSpc>
              <a:buNone/>
            </a:pPr>
            <a:r>
              <a:rPr lang="en-US" sz="3400" i="1" dirty="0">
                <a:solidFill>
                  <a:srgbClr val="FF6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escena</a:t>
            </a:r>
            <a:pPr algn="l" indent="0" marL="0">
              <a:lnSpc>
                <a:spcPct val="95000"/>
              </a:lnSpc>
              <a:buNone/>
            </a:pP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 y Lexus eligieron Unity para la interfaz de sus tableros de próxima generación.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herramienta que mueve un personaje mueve el velocímetro, el mapa y las alertas.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reportado: mejora drástica en eficiencia de desarrollo, sin cifra pública.</a:t>
            </a:r>
            <a:endParaRPr lang="en-US" sz="1500" dirty="0"/>
          </a:p>
        </p:txBody>
      </p:sp>
      <p:pic>
        <p:nvPicPr>
          <p:cNvPr id="5" name="Image 0" descr="/Users/bpareja/gdg-codelabs/unity-seis-industrias-media/s15-toyota-lexu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23760" y="914400"/>
            <a:ext cx="4389120" cy="2468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23760" y="914400"/>
            <a:ext cx="4389120" cy="2468880"/>
          </a:xfrm>
          <a:prstGeom prst="rect">
            <a:avLst/>
          </a:prstGeom>
          <a:ln w="9525">
            <a:solidFill>
              <a:srgbClr val="3A3A3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50608" y="841248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50608" y="841248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521440" y="841248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686032" y="841248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50608" y="3456432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50608" y="3291840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521440" y="3456432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686032" y="3291840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5760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FUENTE: UNITY.COM/RESOURCES/TOYOTA-LEXUS-NEXT-GEN-HMI-DEVELOPMENT (INDUSTRIAL DX, TOKIO, 2025)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245352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Industria 05  </a:t>
            </a:r>
            <a:pPr algn="l" indent="0" marL="0">
              <a:buNone/>
            </a:pPr>
            <a:r>
              <a:rPr lang="en-US" sz="11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880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437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Participantes de 18 países practicaron intubación en el simulador XR de Lucid Reality Labs para Medtronic y el hospital CHUV. 491 escenarios completados.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8620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71 % lo calificó útil para enseñar; 65 % quiere usarlo en formación continua.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 con Unity, XR Interaction Toolkit y OpenXR: las mismas piezas de XRLabs.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Practicar sin riesgo. Recuerden esta frase.</a:t>
            </a:r>
            <a:endParaRPr lang="en-US" sz="1400" dirty="0"/>
          </a:p>
        </p:txBody>
      </p:sp>
      <p:pic>
        <p:nvPicPr>
          <p:cNvPr id="6" name="Image 0" descr="/Users/bpareja/gdg-codelabs/unity-seis-industrias-media/s16-lucid.jpg">
            <a:hlinkClick r:id="rId2" tooltip="Abrir video"/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23760" y="914400"/>
            <a:ext cx="4389120" cy="2468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23760" y="914400"/>
            <a:ext cx="4389120" cy="2468880"/>
          </a:xfrm>
          <a:prstGeom prst="rect">
            <a:avLst/>
          </a:prstGeom>
          <a:ln w="9525">
            <a:solidFill>
              <a:srgbClr val="3A3A3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50608" y="841248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50608" y="841248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521440" y="841248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86032" y="841248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50608" y="3456432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50608" y="3291840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521440" y="3456432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686032" y="3291840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052560" y="1783080"/>
            <a:ext cx="731520" cy="731520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7" name="Text 14">
            <a:hlinkClick r:id="rId3" tooltip=""/>
          </p:cNvPr>
          <p:cNvSpPr txBox="1"/>
          <p:nvPr/>
        </p:nvSpPr>
        <p:spPr>
          <a:xfrm>
            <a:off x="90525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7223760" y="34747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POWERED XR INTUBATION SIMULATION · LUCID REALITY LABS · 0:00 A 0:30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760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FUENTE: UNITY.COM/EN/RESOURCES/LUCID-REALITY-LABS (12.12.2025)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245352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Industria 06  </a:t>
            </a:r>
            <a:pPr algn="l" indent="0" marL="0">
              <a:buNone/>
            </a:pPr>
            <a:r>
              <a:rPr lang="en-US" sz="11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CAPACITACIÓN INDUSTRIAL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880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75 %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 de entrenamiento: de un día a una o dos horas, en el simulador VR de montacargas de Travancore Analytics, hecho en Unity.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8620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error en una máquina real cuesta dinero y puede costar una lesión.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simulador cuesta un reinicio.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exactamente lo que hicimos en Arequipa.</a:t>
            </a:r>
            <a:endParaRPr lang="en-US" sz="1400" dirty="0"/>
          </a:p>
        </p:txBody>
      </p:sp>
      <p:pic>
        <p:nvPicPr>
          <p:cNvPr id="6" name="Image 0" descr="/Users/bpareja/gdg-codelabs/unity-seis-industrias-media/s17-travancore.png">
            <a:hlinkClick r:id="rId2" tooltip="Abrir video"/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23760" y="914400"/>
            <a:ext cx="4389120" cy="2468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23760" y="914400"/>
            <a:ext cx="4389120" cy="2468880"/>
          </a:xfrm>
          <a:prstGeom prst="rect">
            <a:avLst/>
          </a:prstGeom>
          <a:ln w="9525">
            <a:solidFill>
              <a:srgbClr val="3A3A3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50608" y="841248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50608" y="841248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521440" y="841248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86032" y="841248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50608" y="3456432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50608" y="3291840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521440" y="3456432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686032" y="3291840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052560" y="1783080"/>
            <a:ext cx="731520" cy="731520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7" name="Text 14">
            <a:hlinkClick r:id="rId3" tooltip=""/>
          </p:cNvPr>
          <p:cNvSpPr txBox="1"/>
          <p:nvPr/>
        </p:nvSpPr>
        <p:spPr>
          <a:xfrm>
            <a:off x="90525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7223760" y="34747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VR FORKLIFT SIMULATOR · TRAVANCOREANALYTICS · 0:00 A 0:25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760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FUENTE: UNITY.COM/RESOURCES/TRAVANCORE-ANALYTICS (10.05.2024)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245352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pareja/gdg-codelabs/unity-seis-industrias-media/s18-laboratorio-tecsup.jpg">    </p:cNvPr>
          <p:cNvPicPr>
            <a:picLocks noChangeAspect="1"/>
          </p:cNvPicPr>
          <p:nvPr/>
        </p:nvPicPr>
        <p:blipFill>
          <a:blip r:embed="rId1">
            <a:alphaModFix amt="2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 </a:t>
            </a:r>
            <a:pPr algn="l" indent="0" marL="0">
              <a:buNone/>
            </a:pPr>
            <a:r>
              <a:rPr lang="en-US" sz="11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 4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37744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hicimos en </a:t>
            </a:r>
            <a:pPr algn="l" indent="0" marL="0">
              <a:lnSpc>
                <a:spcPct val="95000"/>
              </a:lnSpc>
              <a:buNone/>
            </a:pPr>
            <a:r>
              <a:rPr lang="en-US" sz="6600" i="1" dirty="0">
                <a:solidFill>
                  <a:srgbClr val="FF6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Arequipa</a:t>
            </a:r>
            <a:pPr algn="l" indent="0" marL="0">
              <a:lnSpc>
                <a:spcPct val="95000"/>
              </a:lnSpc>
              <a:buNone/>
            </a:pP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4805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Laboratorios Inmersivo · Sim 1: Fallas en brocas de perforación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245352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  </a:t>
            </a:r>
            <a:pPr algn="l" indent="0" marL="0">
              <a:buNone/>
            </a:pPr>
            <a:r>
              <a:rPr lang="en-US" sz="11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PROBLEMA, CON DATOS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880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53 %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133 estudiantes de Operaciones Mineras y Electrotecnia dice que su mayor obstáculo para practicar es el miedo a dañar equipos costosos.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1887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58 %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9235440" y="1280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a equipos reales menos de dos veces al mes.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2606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9235440" y="2697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accedió durante el ciclo.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4023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89 %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9235440" y="41148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percibe una brecha media o grande entre el aula y el campo.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760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ENCUESTA PROPIA A 133 ESTUDIANTES, TECSUP AREQUIPA, 2025. LABORATORIOS INMERSIVO.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245352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 </a:t>
            </a:r>
            <a:pPr algn="l" indent="0" marL="0">
              <a:buNone/>
            </a:pPr>
            <a:r>
              <a:rPr lang="en-US" sz="11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20240"/>
            <a:ext cx="10972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E8E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“El miedo a cometer errores, porque si cometes algún error tienes que reponer el equipo y no es nada barato.”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46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 de Electrotecnia, 5.º semestre, Tecsup Arequipa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  </a:t>
            </a:r>
            <a:pPr algn="l" indent="0" marL="0">
              <a:buNone/>
            </a:pPr>
            <a:r>
              <a:rPr lang="en-US" sz="11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 1: APRENDER, PRACTICAR, EVALUAR</a:t>
            </a:r>
            <a:endParaRPr lang="en-US" sz="1100" dirty="0"/>
          </a:p>
        </p:txBody>
      </p:sp>
      <p:pic>
        <p:nvPicPr>
          <p:cNvPr id="3" name="Image 0" descr="/Users/bpareja/gdg-codelabs/unity-seis-industrias-media/s21-sim1-tall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960120"/>
            <a:ext cx="5394960" cy="2286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960120"/>
            <a:ext cx="5394960" cy="2286000"/>
          </a:xfrm>
          <a:prstGeom prst="rect">
            <a:avLst/>
          </a:prstGeom>
          <a:ln w="9525">
            <a:solidFill>
              <a:srgbClr val="3A3A3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75488" y="886968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5488" y="886968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52160" y="886968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16752" y="886968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5488" y="3319272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" y="3154680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2160" y="3319272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16752" y="3154680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4290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Aprendizaje guiado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88620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inspección virtual, con EPP.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 la broca con las manos, la giras, la acercas.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fallas reales: rajadura en el borde, rotura anular, botones agrietados.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coach de voz te guía.</a:t>
            </a:r>
            <a:endParaRPr lang="en-US" sz="1400" dirty="0"/>
          </a:p>
        </p:txBody>
      </p:sp>
      <p:pic>
        <p:nvPicPr>
          <p:cNvPr id="15" name="Image 1" descr="/Users/bpareja/gdg-codelabs/unity-seis-industrias-media/s21-sim1-evaluac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960120"/>
            <a:ext cx="5394960" cy="2286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217920" y="960120"/>
            <a:ext cx="5394960" cy="2286000"/>
          </a:xfrm>
          <a:prstGeom prst="rect">
            <a:avLst/>
          </a:prstGeom>
          <a:ln w="9525">
            <a:solidFill>
              <a:srgbClr val="3A3A3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44768" y="886968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44768" y="886968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521440" y="886968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1686032" y="886968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144768" y="3319272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144768" y="3154680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521440" y="3319272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1686032" y="3154680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217920" y="34290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Evaluación con puntaje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6217920" y="388620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casos sin ayudas.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Identificas la falla, la causa y la acción correcta.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interacción se registra.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ve el resultado en un portal web.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548640" y="5760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 QUEST, STANDALONE, 100 % OFFLINE · UNITY, URP, META XR SDK · CONTENIDO VALIDADO CON SANDVIK ROCK TOOLS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245352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pareja/gdg-codelabs/unity-seis-industrias-media/s22-sim1-video.jpg">
            <a:hlinkClick r:id="rId2" tooltip="Abrir video"/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548640"/>
            <a:ext cx="9966960" cy="56052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97280" y="548640"/>
            <a:ext cx="9966960" cy="5605272"/>
          </a:xfrm>
          <a:prstGeom prst="rect">
            <a:avLst/>
          </a:prstGeom>
          <a:ln w="9525">
            <a:solidFill>
              <a:srgbClr val="3A3A3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24128" y="475488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24128" y="475488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972800" y="475488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137392" y="475488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24128" y="6227064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24128" y="6062472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0" y="6227064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137392" y="6062472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15000" y="2985516"/>
            <a:ext cx="731520" cy="731520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3" name="Text 10">
            <a:hlinkClick r:id="rId3" tooltip=""/>
          </p:cNvPr>
          <p:cNvSpPr txBox="1"/>
          <p:nvPr/>
        </p:nvSpPr>
        <p:spPr>
          <a:xfrm>
            <a:off x="5715000" y="298551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624535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 1 EN 60 SEGUNDOS · YOUTUBE · REEMPLAZA ESTA MINIATURA POR EL VIDEO LOCAL (INSERTAR → VIDEO)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  </a:t>
            </a:r>
            <a:pPr algn="l" indent="0" marL="0">
              <a:buNone/>
            </a:pPr>
            <a:r>
              <a:rPr lang="en-US" sz="11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PASÓ CUANDO LO PROBARON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880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5,76 → 7,53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de conocimiento técnico sobre 9, antes y después del simulador. 17 estudiantes de Operaciones Mineras. 12 de 17 mejoraron.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 (SUS): 70,6 sobre 100. El umbral de aceptabilidad es 68.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Intención de uso (TAM): 4,55 sobre 5.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133 encuestados, 84 % dijo que lo usaría cada semana o más. Solo uno dijo que no.</a:t>
            </a:r>
            <a:endParaRPr lang="en-US" sz="1400" dirty="0"/>
          </a:p>
        </p:txBody>
      </p:sp>
      <p:pic>
        <p:nvPicPr>
          <p:cNvPr id="6" name="Image 0" descr="/Users/bpareja/gdg-codelabs/unity-seis-industrias-media/s23-entrevistas-video.jpg">
            <a:hlinkClick r:id="rId2" tooltip="Abrir video"/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0" y="914400"/>
            <a:ext cx="4023360" cy="22677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914400"/>
            <a:ext cx="4023360" cy="2267712"/>
          </a:xfrm>
          <a:prstGeom prst="rect">
            <a:avLst/>
          </a:prstGeom>
          <a:ln w="9525">
            <a:solidFill>
              <a:srgbClr val="3A3A3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516368" y="841248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16368" y="841248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521440" y="841248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86032" y="841248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516368" y="3255264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16368" y="3090672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521440" y="3255264"/>
            <a:ext cx="164592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686032" y="3090672"/>
            <a:ext cx="0" cy="164592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235440" y="1682496"/>
            <a:ext cx="731520" cy="731520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7" name="Text 14">
            <a:hlinkClick r:id="rId3" tooltip=""/>
          </p:cNvPr>
          <p:cNvSpPr txBox="1"/>
          <p:nvPr/>
        </p:nvSpPr>
        <p:spPr>
          <a:xfrm>
            <a:off x="9235440" y="168249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7589520" y="32735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ENTREVISTAS A LOS 17 ESTUDIANTES · ELIGE UN TESTIMONIO DE 20 S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760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VALIDACIÓN PROPIA, N = 17, AREQUIPA, 2025. ENCUESTA N = 133.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245352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  </a:t>
            </a:r>
            <a:pPr algn="l" indent="0" marL="0">
              <a:buNone/>
            </a:pPr>
            <a:r>
              <a:rPr lang="en-US" sz="11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NO SALIÓ COMO ESPERÁBAMOS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94960" cy="4206240"/>
          </a:xfrm>
          <a:prstGeom prst="rect">
            <a:avLst/>
          </a:prstGeom>
          <a:solidFill>
            <a:srgbClr val="1A1A1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463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[COMPLETAR con uno o dos problemas reales: puesta a punto del visor por sesión, hand tracking en piezas pequeñas, mareo, los 5 de 17 que no mejoraron.]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17920" y="1188720"/>
            <a:ext cx="5394960" cy="4206240"/>
          </a:xfrm>
          <a:prstGeom prst="rect">
            <a:avLst/>
          </a:prstGeom>
          <a:solidFill>
            <a:srgbClr val="1A1A1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37960" y="1463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10312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antes de construir, y volver a medir después.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el contenido técnico con especialistas, no con desarrolladores.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la tarea primero; el dispositivo se elige al final.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245352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05  </a:t>
            </a:r>
            <a:pPr algn="l" indent="0" marL="0">
              <a:buNone/>
            </a:pPr>
            <a:r>
              <a:rPr lang="en-US" sz="11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DÓNDE EMPEZAR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ruta, gratis, esta semana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1737360"/>
          </a:xfrm>
          <a:prstGeom prst="rect">
            <a:avLst/>
          </a:prstGeom>
          <a:solidFill>
            <a:srgbClr val="1A1A1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03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Hub y Unity 6.3 LTS. Licencia Personal gratis.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920240"/>
            <a:ext cx="3566160" cy="1737360"/>
          </a:xfrm>
          <a:prstGeom prst="rect">
            <a:avLst/>
          </a:prstGeom>
          <a:solidFill>
            <a:srgbClr val="1A1A1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2103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788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Learn, pathway “VR Development”. Gratuito, unas seis semanas, las primeras misiones sin programar.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920240"/>
            <a:ext cx="3566160" cy="1737360"/>
          </a:xfrm>
          <a:prstGeom prst="rect">
            <a:avLst/>
          </a:prstGeom>
          <a:solidFill>
            <a:srgbClr val="1A1A1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2103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sin Blender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788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ProBuilder, incluido en Unity.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3566160" cy="1737360"/>
          </a:xfrm>
          <a:prstGeom prst="rect">
            <a:avLst/>
          </a:prstGeom>
          <a:solidFill>
            <a:srgbClr val="1A1A1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023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297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eres estudiante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709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Unity Student: Unity Pro gratis y descuento en la Asset Store.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97680" y="3840480"/>
            <a:ext cx="3566160" cy="1737360"/>
          </a:xfrm>
          <a:prstGeom prst="rect">
            <a:avLst/>
          </a:prstGeom>
          <a:solidFill>
            <a:srgbClr val="1A1A1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26280" y="4023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297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construyas solo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4709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GDG Arequipa, XR Perú, y esta tarde: los visores están aquí.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245352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pareja/gdg-codelabs/unity-seis-industrias-media/s01-s26-broca-quest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73736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viste hoy empezó como un </a:t>
            </a:r>
            <a:pPr algn="l" indent="0" marL="0">
              <a:lnSpc>
                <a:spcPct val="95000"/>
              </a:lnSpc>
              <a:buNone/>
            </a:pPr>
            <a:r>
              <a:rPr lang="en-US" sz="5600" i="1" dirty="0">
                <a:solidFill>
                  <a:srgbClr val="FF6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3D</a:t>
            </a:r>
            <a:pPr algn="l" indent="0" marL="0">
              <a:lnSpc>
                <a:spcPct val="95000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5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206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construyas tú, también. Los visores están en esta sala.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 </a:t>
            </a:r>
            <a:pPr algn="l" indent="0" marL="0">
              <a:buNone/>
            </a:pPr>
            <a:r>
              <a:rPr lang="en-US" sz="11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OPCIONAL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 1 por dentro: dos minutos en el </a:t>
            </a:r>
            <a:pPr algn="l" indent="0" marL="0">
              <a:lnSpc>
                <a:spcPct val="95000"/>
              </a:lnSpc>
              <a:buNone/>
            </a:pPr>
            <a:r>
              <a:rPr lang="en-US" sz="4800" i="1" dirty="0">
                <a:solidFill>
                  <a:srgbClr val="FF6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editor</a:t>
            </a:r>
            <a:pPr algn="l" indent="0" marL="0">
              <a:lnSpc>
                <a:spcPct val="95000"/>
              </a:lnSpc>
              <a:buNone/>
            </a:pP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 del taller → componentes de la broca → Play. Nada más.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pareja/gdg-codelabs/unity-seis-industrias-media/logo-core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30352" cy="1005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46888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7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840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Benjamin Pareja · LinkedIn: @me7aben · coresearch.studio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343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Arequipa XR Day · GDG Arequipa · Perú Tech Week 2026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7790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JUNTO A</a:t>
            </a:r>
            <a:endParaRPr lang="en-US" sz="900" dirty="0"/>
          </a:p>
        </p:txBody>
      </p:sp>
      <p:pic>
        <p:nvPicPr>
          <p:cNvPr id="7" name="Image 1" descr="/Users/bpareja/gdg-codelabs/unity-seis-industrias-media/logo-gd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5788152"/>
            <a:ext cx="2048444" cy="299557"/>
          </a:xfrm>
          <a:prstGeom prst="rect">
            <a:avLst/>
          </a:prstGeom>
        </p:spPr>
      </p:pic>
      <p:pic>
        <p:nvPicPr>
          <p:cNvPr id="8" name="Image 2" descr="/Users/bpareja/gdg-codelabs/unity-seis-industrias-media/logo-pt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524" y="5760720"/>
            <a:ext cx="2129721" cy="384048"/>
          </a:xfrm>
          <a:prstGeom prst="rect">
            <a:avLst/>
          </a:prstGeom>
        </p:spPr>
      </p:pic>
      <p:pic>
        <p:nvPicPr>
          <p:cNvPr id="9" name="Image 3" descr="/Users/bpareja/gdg-codelabs/unity-seis-industrias-media/logo-tecsu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5760720"/>
            <a:ext cx="1328457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pareja/Repositorios/Coresearch/marketing/evento-xr-labs-latam/obs/slide-03-agradecimien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pareja/Repositorios/Coresearch/marketing/evento-xr-labs-latam/obs/slide-04-cier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Unity: un motor, seis industrias</dc:title>
  <dc:subject>PptxGenJS Presentation</dc:subject>
  <dc:creator>Benjamin Pareja</dc:creator>
  <cp:lastModifiedBy>Benjamin Pareja</cp:lastModifiedBy>
  <cp:revision>1</cp:revision>
  <dcterms:created xsi:type="dcterms:W3CDTF">2026-10-17T19:09:55Z</dcterms:created>
  <dcterms:modified xsi:type="dcterms:W3CDTF">2026-10-17T19:09:55Z</dcterms:modified>
</cp:coreProperties>
</file>